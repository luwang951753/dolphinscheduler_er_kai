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365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658368" y="713232"/>
            <a:ext cx="9875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3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DataFlow 数据中台建设汇报</a:t>
            </a:r>
            <a:endParaRPr lang="zh-CN" sz="3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694944" y="1627632"/>
            <a:ext cx="9326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dirty="0" smtClean="0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围绕数据分散、找数难、治理不可见、用数不放心、政府标准转换难的解决方案</a:t>
            </a:r>
            <a:endParaRPr lang="zh-CN" sz="1800" dirty="0" smtClean="0">
              <a:solidFill>
                <a:srgbClr val="47556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694944" y="2487168"/>
            <a:ext cx="2743200" cy="65836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</p:sp>
      <p:sp>
        <p:nvSpPr>
          <p:cNvPr id="7" name="Text Box"/>
          <p:cNvSpPr txBox="1"/>
          <p:nvPr/>
        </p:nvSpPr>
        <p:spPr>
          <a:xfrm>
            <a:off x="896112" y="26517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b="0" dirty="0" smtClean="0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</a:rPr>
              <a:t>可演示</a:t>
            </a:r>
            <a:endParaRPr lang="zh-CN" sz="1800" b="0" dirty="0" smtClean="0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3703320" y="2487168"/>
            <a:ext cx="27432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BBF7D0"/>
            </a:solidFill>
          </a:ln>
        </p:spPr>
      </p:sp>
      <p:sp>
        <p:nvSpPr>
          <p:cNvPr id="9" name="Text Box"/>
          <p:cNvSpPr txBox="1"/>
          <p:nvPr/>
        </p:nvSpPr>
        <p:spPr>
          <a:xfrm>
            <a:off x="3904487" y="26517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b="0" dirty="0" smtClean="0">
                <a:solidFill>
                  <a:srgbClr val="047857"/>
                </a:solidFill>
                <a:latin typeface="PingFang SC" panose="020B0400000000000000" charset="-122"/>
                <a:ea typeface="PingFang SC" panose="020B0400000000000000" charset="-122"/>
              </a:rPr>
              <a:t>可交付</a:t>
            </a:r>
            <a:endParaRPr lang="zh-CN" sz="1800" b="0" dirty="0" smtClean="0">
              <a:solidFill>
                <a:srgbClr val="04785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"/>
          <p:cNvSpPr/>
          <p:nvPr/>
        </p:nvSpPr>
        <p:spPr>
          <a:xfrm>
            <a:off x="6711696" y="2487168"/>
            <a:ext cx="2743200" cy="65836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</p:sp>
      <p:sp>
        <p:nvSpPr>
          <p:cNvPr id="11" name="Text Box"/>
          <p:cNvSpPr txBox="1"/>
          <p:nvPr/>
        </p:nvSpPr>
        <p:spPr>
          <a:xfrm>
            <a:off x="6912864" y="26517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800" b="0" dirty="0" smtClean="0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</a:rPr>
              <a:t>可部署</a:t>
            </a:r>
            <a:endParaRPr lang="zh-CN" sz="1800" b="0" dirty="0" smtClean="0">
              <a:solidFill>
                <a:srgbClr val="B4530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 Box"/>
          <p:cNvSpPr txBox="1"/>
          <p:nvPr/>
        </p:nvSpPr>
        <p:spPr>
          <a:xfrm>
            <a:off x="713232" y="5394960"/>
            <a:ext cx="8046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0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基于 DolphinScheduler 二开建设轻量数据中台 DataFlow</a:t>
            </a:r>
            <a:endParaRPr lang="zh-CN" sz="20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 Box"/>
          <p:cNvSpPr txBox="1"/>
          <p:nvPr/>
        </p:nvSpPr>
        <p:spPr>
          <a:xfrm>
            <a:off x="713232" y="5870448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汇报日期：2026-06-11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一、问题：数据多、分散、难用、不敢</a:t>
            </a:r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用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不是缺系统，而是缺一个能把多源数据统一纳管、统一理解、统一使用的平台。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数据源多：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办案中心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库、市局中间库、海淀数据中心库、涉案财务库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等并存，数据口径和更新方式不一致。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数据分散：市局中间库、办案中心库等数据分布在不同源，跨库找数成本高、难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查询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找数难：几百张表、业务开发找表难、字段理解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不清晰，无法稳定编写 SQL 查询。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用数不放心：数据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来源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、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质量</a:t>
            </a:r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、更新时间、脱敏权限和下发回传过程缺少可视化依据。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"/>
          <p:cNvSpPr/>
          <p:nvPr/>
        </p:nvSpPr>
        <p:spPr>
          <a:xfrm>
            <a:off x="914400" y="304495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5" name="Text Box"/>
          <p:cNvSpPr txBox="1"/>
          <p:nvPr/>
        </p:nvSpPr>
        <p:spPr>
          <a:xfrm>
            <a:off x="1170432" y="2990088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标准转换难：面向政府数据标准时，需要把业务字段、编码、口径转换成统一规范。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 Box"/>
          <p:cNvSpPr txBox="1"/>
          <p:nvPr>
            <p:custDataLst>
              <p:tags r:id="rId1"/>
            </p:custDataLst>
          </p:nvPr>
        </p:nvSpPr>
        <p:spPr>
          <a:xfrm>
            <a:off x="1199007" y="3487928"/>
            <a:ext cx="9601200" cy="384048"/>
          </a:xfrm>
          <a:prstGeom prst="rect">
            <a:avLst/>
          </a:prstGeom>
          <a:noFill/>
        </p:spPr>
        <p:txBody>
          <a:bodyPr wrap="square" anchor="t"/>
          <a:p>
            <a:pPr algn="l"/>
            <a:r>
              <a:rPr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报表产出难：使用方需要按业务口径自由配置报表数据集，自主选择图表、表格等展现样式，并在 Word 文档中灵活编排，形成可直接汇报和交付的专题报告。</a:t>
            </a:r>
            <a:endParaRPr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"/>
          <p:cNvSpPr/>
          <p:nvPr>
            <p:custDataLst>
              <p:tags r:id="rId2"/>
            </p:custDataLst>
          </p:nvPr>
        </p:nvSpPr>
        <p:spPr>
          <a:xfrm>
            <a:off x="931545" y="354787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>
            <a:pPr algn="l"/>
            <a:endParaRPr lang="zh-CN" altLang="en-US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二、解决</a:t>
            </a:r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方式：用数据中台做统一纳管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DataFlow 不是新增一个孤立系统，而是在 DolphinScheduler 底座上形成轻量数据中台能力。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DataFlow 首页作为统一纳管入口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统一接入：把多业务系统、多数据库、多类型数据源纳入同一平台视角。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统一调度：同步任务复用工作流、定时、上线下线和执行记录。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统一查看：通过数据预览、主题域、治理看板降低找数和判断数据可用性的门槛。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统一服务：通过 Magic API、数据下发、数据回传把平台处理结果安全输出给业务侧。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25365" y="2414270"/>
            <a:ext cx="7115810" cy="3755390"/>
          </a:xfrm>
          <a:prstGeom prst="rect">
            <a:avLst/>
          </a:prstGeom>
        </p:spPr>
      </p:pic>
      <p:sp>
        <p:nvSpPr>
          <p:cNvPr id="17" name="Shape"/>
          <p:cNvSpPr/>
          <p:nvPr/>
        </p:nvSpPr>
        <p:spPr>
          <a:xfrm>
            <a:off x="713232" y="320040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8" name="Text Box"/>
          <p:cNvSpPr txBox="1"/>
          <p:nvPr/>
        </p:nvSpPr>
        <p:spPr>
          <a:xfrm>
            <a:off x="969264" y="3145536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统一标准：在同步、治理、主题域和接口层沉淀字段映射、编码转换和政府标准口径。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40460" y="39611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汇报白皮书：针对数据集自由设定图表、饼图、表格等展现形式，可嵌入文档，形成可编辑的白皮书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6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三、统一纳管链路</a:t>
            </a:r>
            <a:endParaRPr lang="zh-CN" sz="26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"/>
          <p:cNvSpPr/>
          <p:nvPr/>
        </p:nvSpPr>
        <p:spPr>
          <a:xfrm>
            <a:off x="594360" y="2240280"/>
            <a:ext cx="1207008" cy="713232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CBD5E1"/>
            </a:solidFill>
          </a:ln>
        </p:spPr>
      </p:sp>
      <p:sp>
        <p:nvSpPr>
          <p:cNvPr id="6" name="Text Box"/>
          <p:cNvSpPr txBox="1"/>
          <p:nvPr/>
        </p:nvSpPr>
        <p:spPr>
          <a:xfrm>
            <a:off x="59436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数据源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cxnSp>
        <p:nvCxnSpPr>
          <p:cNvPr id="7" name="Connector"/>
          <p:cNvCxnSpPr/>
          <p:nvPr/>
        </p:nvCxnSpPr>
        <p:spPr>
          <a:xfrm>
            <a:off x="183794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8" name="Shape"/>
          <p:cNvSpPr/>
          <p:nvPr/>
        </p:nvSpPr>
        <p:spPr>
          <a:xfrm>
            <a:off x="2148840" y="2240280"/>
            <a:ext cx="1207008" cy="713232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</p:sp>
      <p:sp>
        <p:nvSpPr>
          <p:cNvPr id="9" name="Text Box"/>
          <p:cNvSpPr txBox="1"/>
          <p:nvPr/>
        </p:nvSpPr>
        <p:spPr>
          <a:xfrm>
            <a:off x="214884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同步任务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cxnSp>
        <p:nvCxnSpPr>
          <p:cNvPr id="10" name="Connector"/>
          <p:cNvCxnSpPr/>
          <p:nvPr/>
        </p:nvCxnSpPr>
        <p:spPr>
          <a:xfrm>
            <a:off x="339242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11" name="Shape"/>
          <p:cNvSpPr/>
          <p:nvPr/>
        </p:nvSpPr>
        <p:spPr>
          <a:xfrm>
            <a:off x="3703320" y="2240280"/>
            <a:ext cx="1207008" cy="713232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</p:sp>
      <p:sp>
        <p:nvSpPr>
          <p:cNvPr id="12" name="Text Box"/>
          <p:cNvSpPr txBox="1"/>
          <p:nvPr/>
        </p:nvSpPr>
        <p:spPr>
          <a:xfrm>
            <a:off x="370332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数据预览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cxnSp>
        <p:nvCxnSpPr>
          <p:cNvPr id="13" name="Connector"/>
          <p:cNvCxnSpPr/>
          <p:nvPr/>
        </p:nvCxnSpPr>
        <p:spPr>
          <a:xfrm>
            <a:off x="494690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14" name="Shape"/>
          <p:cNvSpPr/>
          <p:nvPr/>
        </p:nvSpPr>
        <p:spPr>
          <a:xfrm>
            <a:off x="5257800" y="2240280"/>
            <a:ext cx="1207008" cy="71323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</p:sp>
      <p:sp>
        <p:nvSpPr>
          <p:cNvPr id="15" name="Text Box"/>
          <p:cNvSpPr txBox="1"/>
          <p:nvPr/>
        </p:nvSpPr>
        <p:spPr>
          <a:xfrm>
            <a:off x="525780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主题库/治理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cxnSp>
        <p:nvCxnSpPr>
          <p:cNvPr id="16" name="Connector"/>
          <p:cNvCxnSpPr/>
          <p:nvPr/>
        </p:nvCxnSpPr>
        <p:spPr>
          <a:xfrm>
            <a:off x="6501384" y="2596896"/>
            <a:ext cx="265176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17" name="Shape"/>
          <p:cNvSpPr/>
          <p:nvPr/>
        </p:nvSpPr>
        <p:spPr>
          <a:xfrm>
            <a:off x="6812280" y="2240280"/>
            <a:ext cx="1207008" cy="713232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CBD5E1"/>
            </a:solidFill>
          </a:ln>
        </p:spPr>
      </p:sp>
      <p:sp>
        <p:nvSpPr>
          <p:cNvPr id="18" name="Text Box"/>
          <p:cNvSpPr txBox="1"/>
          <p:nvPr/>
        </p:nvSpPr>
        <p:spPr>
          <a:xfrm>
            <a:off x="681228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Magic API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cxnSp>
        <p:nvCxnSpPr>
          <p:cNvPr id="19" name="Connector"/>
          <p:cNvCxnSpPr/>
          <p:nvPr/>
        </p:nvCxnSpPr>
        <p:spPr>
          <a:xfrm>
            <a:off x="8055864" y="2596896"/>
            <a:ext cx="265175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0" name="Shape"/>
          <p:cNvSpPr/>
          <p:nvPr/>
        </p:nvSpPr>
        <p:spPr>
          <a:xfrm>
            <a:off x="8366760" y="2240280"/>
            <a:ext cx="1207008" cy="713232"/>
          </a:xfrm>
          <a:prstGeom prst="roundRect">
            <a:avLst/>
          </a:prstGeom>
          <a:solidFill>
            <a:srgbClr val="FFE4E6"/>
          </a:solidFill>
          <a:ln w="9525">
            <a:solidFill>
              <a:srgbClr val="CBD5E1"/>
            </a:solidFill>
          </a:ln>
        </p:spPr>
      </p:sp>
      <p:sp>
        <p:nvSpPr>
          <p:cNvPr id="21" name="Text Box"/>
          <p:cNvSpPr txBox="1"/>
          <p:nvPr/>
        </p:nvSpPr>
        <p:spPr>
          <a:xfrm>
            <a:off x="836676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回传/下发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cxnSp>
        <p:nvCxnSpPr>
          <p:cNvPr id="22" name="Connector"/>
          <p:cNvCxnSpPr/>
          <p:nvPr/>
        </p:nvCxnSpPr>
        <p:spPr>
          <a:xfrm>
            <a:off x="9610344" y="2596896"/>
            <a:ext cx="265175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23" name="Shape"/>
          <p:cNvSpPr/>
          <p:nvPr/>
        </p:nvSpPr>
        <p:spPr>
          <a:xfrm>
            <a:off x="9921240" y="2240280"/>
            <a:ext cx="1207008" cy="71323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</p:sp>
      <p:sp>
        <p:nvSpPr>
          <p:cNvPr id="24" name="Text Box"/>
          <p:cNvSpPr txBox="1"/>
          <p:nvPr/>
        </p:nvSpPr>
        <p:spPr>
          <a:xfrm>
            <a:off x="9921240" y="2450592"/>
            <a:ext cx="120700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白皮书</a:t>
            </a:r>
            <a:endParaRPr lang="zh-CN" sz="14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"/>
          <p:cNvSpPr/>
          <p:nvPr/>
        </p:nvSpPr>
        <p:spPr>
          <a:xfrm>
            <a:off x="914400" y="3785615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 Box"/>
          <p:cNvSpPr txBox="1"/>
          <p:nvPr/>
        </p:nvSpPr>
        <p:spPr>
          <a:xfrm>
            <a:off x="1170432" y="3730752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多源数据先进入平台纳管范围，数据源、同步任务、执行状态和异常统一可见。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"/>
          <p:cNvSpPr/>
          <p:nvPr/>
        </p:nvSpPr>
        <p:spPr>
          <a:xfrm>
            <a:off x="914400" y="4224528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28" name="Text Box"/>
          <p:cNvSpPr txBox="1"/>
          <p:nvPr/>
        </p:nvSpPr>
        <p:spPr>
          <a:xfrm>
            <a:off x="1170432" y="4169664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同步任务负责抽取、清洗、映射、标准转换，并通过调度保证数据持续更新。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Shape"/>
          <p:cNvSpPr/>
          <p:nvPr/>
        </p:nvSpPr>
        <p:spPr>
          <a:xfrm>
            <a:off x="914400" y="4663440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Text Box"/>
          <p:cNvSpPr txBox="1"/>
          <p:nvPr/>
        </p:nvSpPr>
        <p:spPr>
          <a:xfrm>
            <a:off x="1170432" y="4608576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数据预览和主题域让数据从“技术表”变成“业务能理解的数据对象”。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Shape"/>
          <p:cNvSpPr/>
          <p:nvPr/>
        </p:nvSpPr>
        <p:spPr>
          <a:xfrm>
            <a:off x="914400" y="510235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Text Box"/>
          <p:cNvSpPr txBox="1"/>
          <p:nvPr/>
        </p:nvSpPr>
        <p:spPr>
          <a:xfrm>
            <a:off x="1170432" y="5047488"/>
            <a:ext cx="9509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治理、血缘、权限和审计让数据来源、质量、流向和使用边界可追踪。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四、解决找数难：不懂 SQL 也能筛选数据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数据预览把写 SQL 的门槛转成可视化选择、筛选和预览。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数据预览让非 SQL 用户也能查数、筛数、看样例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用户可以按数据源、库表、字段和条件进行筛选，而不是直接写 SQL。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字段选择、条件添加、预览结果形成所见即所得的找数体验。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运维人员可快速判断字段含义、样例值、数据是否为空、是否符合预期。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后续可扩展“找数找字段”搜索，支持按中文名、描述、样例值和敏感类型发现数据。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五、围绕公安业务建设主题域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主题域的核心价值是把分散数据按公安业务语言重新组织。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主题库把技术数据组织成公安业务主题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围绕人员、嫌疑人、案件、警情、线索、车辆、关系网络等业务对象组织数据。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主题域隐藏底层库表差异，业务侧看到的是可理解、可复用的数据资产。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同一主题下可沉淀字段口径、更新频率、来源系统、质量状态和服务接口。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后续首页指标、数据治理、下发回传、白皮书报告都可以围绕主题域取数。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六、数据治理可视化：看得见质量和链路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治理不是后台台账，而是让用户知道数据从哪来、是否可信、出了问题在哪里。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SQL 血缘用于解释数据来源和字段流向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治理看板展示质量问题、同步任务、资产状态和血缘关系。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SQL 血缘解析支持表级、字段级链路，高亮字段上下游关系。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当指标异常或字段不可信时，可回溯来源表、转换 SQL、同步任务和影响范围。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治理结果应反哺首页、主题域和下发回传，避免问题数据继续扩散。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七、使用数据可放心：权限、脱敏、审计、接口安全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数据能不能用，不只看能否查到，更要看是否安全、合规、可追责。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安全中心与令牌、用户、租户、审计共同构成用数边界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权限边界区分 admin、维护人员、只读用户，敏感操作必须后端校验。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身份证号、手机号、银行卡号等敏感字段在预览、导出、接口返回中需要脱敏。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SQL、数据源、导出、下发、回传和 Magic API 调用都要做参数和权限检查。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审计日志记录谁在何时查询、导出、下发、回传了哪些数据，便于追责。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八、政府数据标准转换：从业务字段到统一口径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数据中台要解决的不只是搬运数据，还要把数据转换成可交换、可治理、可上报的标准格式。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字段标准化：姓名、证件号、案件编号、行政区划、警种、案件类型等字段统一命名和类型。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编码标准化：把各系统自定义编码映射到政府或公安标准编码。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口径标准化：明确统计口径、时间口径、去重规则和聚合规则。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输出标准化：通过主题域、Magic API、下发和回传接口输出符合标准的数据。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九、数据下发与回传：按业务场景定制预览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下发和回传不是普通表格查询，而是面向业务系统的结果核验和输出窗口。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数据回传按目标库分 Tab 预览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查询条件聚焦公安业务：嫌疑人编号、嫌疑人姓名、身份证号、案件编号、案件名称。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数据回传按目标库展示：天地伟业中间库、市局 C3 回传库、警综库。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数据下发按接收平台展示：数据中台、三期平台。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定制化预览能让业务人员先确认结果，再执行导出、下发或回传，降低误操作风险。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十、Magic API：特殊需求和安全接口的快速承载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Magic API 适合承接现场变化快、查询口径特殊、需要快速演示和维护的接口。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Magic API 作为业务接口开发与安全控制层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针对首页指标、主题域查询、下发、回传等模块提供可维护接口。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特殊业务查询可先通过 Magic API 快速实现，再沉淀成稳定后端接口。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接口层集中做参数校验、权限控制、SQL 安全、脱敏和审计记录。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让现场需求变化不直接侵入核心调度和治理模块，降低二开维护成本。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十一、白皮书与报表：把数据成果变成汇报材料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领导和业务侧最终需要的是可解释的报告，而不是只看技术页面。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5650992" y="1078992"/>
            <a:ext cx="6144768" cy="4773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pic>
        <p:nvPicPr>
          <p:cNvPr id="10" name="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88161"/>
            <a:ext cx="5806440" cy="4354830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7" name="Text Box"/>
          <p:cNvSpPr txBox="1"/>
          <p:nvPr/>
        </p:nvSpPr>
        <p:spPr>
          <a:xfrm>
            <a:off x="5705856" y="5961888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2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白皮书把平台数据转化为可汇报成果</a:t>
            </a:r>
            <a:endParaRPr lang="zh-CN" sz="12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713232" y="144475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969264" y="1389888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白皮书模块支持可编辑文档、报表数据集、图表/表格展现和预览导出。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 Box"/>
          <p:cNvSpPr txBox="1"/>
          <p:nvPr/>
        </p:nvSpPr>
        <p:spPr>
          <a:xfrm>
            <a:off x="969264" y="1828800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运维人员可配置字段、条件、维度、指标，形成可复用报表数据集。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"/>
          <p:cNvSpPr/>
          <p:nvPr/>
        </p:nvSpPr>
        <p:spPr>
          <a:xfrm>
            <a:off x="713232" y="2322576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 Box"/>
          <p:cNvSpPr txBox="1"/>
          <p:nvPr/>
        </p:nvSpPr>
        <p:spPr>
          <a:xfrm>
            <a:off x="969264" y="2267712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图表、饼图、表格等展现形式可嵌入文档指定位置。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Box"/>
          <p:cNvSpPr txBox="1"/>
          <p:nvPr/>
        </p:nvSpPr>
        <p:spPr>
          <a:xfrm>
            <a:off x="969264" y="2706624"/>
            <a:ext cx="4617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适合形成阶段性治理报告、专题研判报告、业务数据质量报告。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十二、领导视角的价值闭环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这套能力最终解决的是“数据能不能管起来、找得到、看得懂、用得稳、交得出”。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解决数据分散：多源数据统一接入、统一调度、统一状态监控。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解决找数难：数据预览和后续数据探查降低 SQL 门槛。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解决治理不可见：质量、血缘、同步链路、问题状态可视化。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解决用数不放心：权限、脱敏、审计、Magic API 安全校验形成闭环。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"/>
          <p:cNvSpPr/>
          <p:nvPr/>
        </p:nvSpPr>
        <p:spPr>
          <a:xfrm>
            <a:off x="914400" y="304495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5" name="Text Box"/>
          <p:cNvSpPr txBox="1"/>
          <p:nvPr/>
        </p:nvSpPr>
        <p:spPr>
          <a:xfrm>
            <a:off x="1170432" y="2990088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解决标准转换难：字段、编码、口径、接口输出逐步按政府标准沉淀。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十三、当前验证状态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这版不是纯 PPT 设想，已有模块已进入 Dolphin 二开项目并完成安装冒烟验证。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已完成 DolphinScheduler 二开项目打包和 MySQL 安装验证，不使用 H2。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api、db、master、worker、alert 服务健康状态均为 UP。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浏览器模拟点击 30 个模块，结果 30/30 PASS。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覆盖首页、同步任务、数据预览、主题库、治理、SQL 血缘、回传、下发、白皮书、Magic API。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Box"/>
          <p:cNvSpPr txBox="1"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2500" b="0" dirty="0" smtClean="0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</a:rPr>
              <a:t>十四、下一步推进重点</a:t>
            </a:r>
            <a:endParaRPr lang="zh-CN" sz="2500" b="0" dirty="0" smtClean="0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 Box"/>
          <p:cNvSpPr txBox="1"/>
          <p:nvPr/>
        </p:nvSpPr>
        <p:spPr>
          <a:xfrm>
            <a:off x="530352" y="786384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400" dirty="0" smtClean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下一阶段重点不是继续堆页面，而是把数据、接口、安全和标准转换做实。</a:t>
            </a:r>
            <a:endParaRPr lang="zh-CN" sz="1400" dirty="0" smtClean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"/>
          <p:cNvSpPr/>
          <p:nvPr/>
        </p:nvSpPr>
        <p:spPr>
          <a:xfrm>
            <a:off x="914400" y="128930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 Box"/>
          <p:cNvSpPr txBox="1"/>
          <p:nvPr/>
        </p:nvSpPr>
        <p:spPr>
          <a:xfrm>
            <a:off x="1170432" y="123444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补齐 Magic API 真实接口：首页指标、主题域查询、数据回传、数据下发优先。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9" name="Text Box"/>
          <p:cNvSpPr txBox="1"/>
          <p:nvPr/>
        </p:nvSpPr>
        <p:spPr>
          <a:xfrm>
            <a:off x="1170432" y="1673352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完善数据探查：支持表名、字段中文名、字段描述、样例值、质量指标搜索。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"/>
          <p:cNvSpPr/>
          <p:nvPr/>
        </p:nvSpPr>
        <p:spPr>
          <a:xfrm>
            <a:off x="914400" y="216712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Box"/>
          <p:cNvSpPr txBox="1"/>
          <p:nvPr/>
        </p:nvSpPr>
        <p:spPr>
          <a:xfrm>
            <a:off x="1170432" y="2112264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沉淀政府数据标准转换规则：字段映射、编码映射、统计口径、接口输出规范。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 Box"/>
          <p:cNvSpPr txBox="1"/>
          <p:nvPr/>
        </p:nvSpPr>
        <p:spPr>
          <a:xfrm>
            <a:off x="1170432" y="2551176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强化权限安全：敏感字段脱敏、导出控制、接口审计、SQL 参数安全。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"/>
          <p:cNvSpPr/>
          <p:nvPr/>
        </p:nvSpPr>
        <p:spPr>
          <a:xfrm>
            <a:off x="914400" y="304495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5" name="Text Box"/>
          <p:cNvSpPr txBox="1"/>
          <p:nvPr/>
        </p:nvSpPr>
        <p:spPr>
          <a:xfrm>
            <a:off x="1170432" y="2990088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sz="1600" dirty="0" smtClean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</a:rPr>
              <a:t>形成演示数据闭环：从数据源接入到主题域、治理、下发回传、白皮书报告。</a:t>
            </a:r>
            <a:endParaRPr lang="zh-CN" sz="1600" dirty="0" smtClean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DataFlow">
  <a:themeElements>
    <a:clrScheme name="DataFlow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0891B2"/>
      </a:accent5>
      <a:accent6>
        <a:srgbClr val="E11D48"/>
      </a:accent6>
      <a:hlink>
        <a:srgbClr val="2563EB"/>
      </a:hlink>
      <a:folHlink>
        <a:srgbClr val="7C3AED"/>
      </a:folHlink>
    </a:clrScheme>
    <a:fontScheme name="DataFlow">
      <a:majorFont>
        <a:latin typeface="PingFang SC"/>
        <a:ea typeface="PingFang SC"/>
        <a:cs typeface=""/>
      </a:majorFont>
      <a:minorFont>
        <a:latin typeface="PingFang SC"/>
        <a:ea typeface="PingFang SC"/>
        <a:cs typeface=""/>
      </a:minorFont>
    </a:fontScheme>
    <a:fmtScheme name="DataFlow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3157</Words>
  <Application>WPS 表格</Application>
  <PresentationFormat/>
  <Paragraphs>223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DataFlow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丹尼少年</cp:lastModifiedBy>
  <cp:revision>2</cp:revision>
  <dcterms:created xsi:type="dcterms:W3CDTF">2026-06-10T22:40:53Z</dcterms:created>
  <dcterms:modified xsi:type="dcterms:W3CDTF">2026-06-10T22:40:53Z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6C13B47729FEA1B22CDC296AF9778EC4_42</vt:lpwstr>
  </property>
  <property fmtid="{D5CDD505-2E9C-101B-9397-08002B2CF9AE}" pid="3" name="KSOProductBuildVer">
    <vt:lpwstr>2052-6.8.2.8850</vt:lpwstr>
  </property>
</Properties>
</file>