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6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1999" cy="6858000" type="wide"/>
  <p:notes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658368" y="713232"/>
            <a:ext cx="9875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34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DataFlow DolphinScheduler 二开阶段成果汇报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694944" y="1627632"/>
            <a:ext cx="9326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800" dirty="0" smtClean="0">
                <a:solidFill>
                  <a:srgbClr val="475569"/>
                </a:solidFill>
                <a:latin typeface="PingFang SC"/>
                <a:ea typeface="PingFang SC"/>
              </a:rPr>
              <a:t>面向领导汇报：建设目标、业务编排、模块能力、验证结果与下一步计划</a:t>
            </a:r>
          </a:p>
        </p:txBody>
      </p:sp>
      <p:sp>
        <p:nvSpPr>
          <p:cNvPr id="2" name="Shape"/>
          <p:cNvSpPr/>
          <p:nvPr/>
        </p:nvSpPr>
        <p:spPr>
          <a:xfrm>
            <a:off x="694944" y="2487168"/>
            <a:ext cx="2743200" cy="65836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BFDBFE"/>
            </a:solidFill>
          </a:ln>
        </p:spPr>
      </p:sp>
      <p:sp>
        <p:nvSpPr>
          <p:cNvPr id="1" name="Text Box"/>
          <p:cNvSpPr txBox="1"/>
          <p:nvPr/>
        </p:nvSpPr>
        <p:spPr>
          <a:xfrm>
            <a:off x="896112" y="26517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800" dirty="0" smtClean="0">
                <a:solidFill>
                  <a:srgbClr val="1D4ED8"/>
                </a:solidFill>
                <a:latin typeface="PingFang SC"/>
                <a:ea typeface="PingFang SC"/>
                <a:b/>
              </a:rPr>
              <a:t>可演示</a:t>
            </a:r>
          </a:p>
        </p:txBody>
      </p:sp>
      <p:sp>
        <p:nvSpPr>
          <p:cNvPr id="2" name="Shape"/>
          <p:cNvSpPr/>
          <p:nvPr/>
        </p:nvSpPr>
        <p:spPr>
          <a:xfrm>
            <a:off x="3703320" y="2487168"/>
            <a:ext cx="2743200" cy="65836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BBF7D0"/>
            </a:solidFill>
          </a:ln>
        </p:spPr>
      </p:sp>
      <p:sp>
        <p:nvSpPr>
          <p:cNvPr id="1" name="Text Box"/>
          <p:cNvSpPr txBox="1"/>
          <p:nvPr/>
        </p:nvSpPr>
        <p:spPr>
          <a:xfrm>
            <a:off x="3904487" y="26517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800" dirty="0" smtClean="0">
                <a:solidFill>
                  <a:srgbClr val="047857"/>
                </a:solidFill>
                <a:latin typeface="PingFang SC"/>
                <a:ea typeface="PingFang SC"/>
                <a:b/>
              </a:rPr>
              <a:t>可交付</a:t>
            </a:r>
          </a:p>
        </p:txBody>
      </p:sp>
      <p:sp>
        <p:nvSpPr>
          <p:cNvPr id="2" name="Shape"/>
          <p:cNvSpPr/>
          <p:nvPr/>
        </p:nvSpPr>
        <p:spPr>
          <a:xfrm>
            <a:off x="6711696" y="2487168"/>
            <a:ext cx="2743200" cy="658368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DE68A"/>
            </a:solidFill>
          </a:ln>
        </p:spPr>
      </p:sp>
      <p:sp>
        <p:nvSpPr>
          <p:cNvPr id="1" name="Text Box"/>
          <p:cNvSpPr txBox="1"/>
          <p:nvPr/>
        </p:nvSpPr>
        <p:spPr>
          <a:xfrm>
            <a:off x="6912864" y="26517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800" dirty="0" smtClean="0">
                <a:solidFill>
                  <a:srgbClr val="B45309"/>
                </a:solidFill>
                <a:latin typeface="PingFang SC"/>
                <a:ea typeface="PingFang SC"/>
                <a:b/>
              </a:rPr>
              <a:t>可部署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713232" y="5394960"/>
            <a:ext cx="8046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000" dirty="0" smtClean="0">
                <a:solidFill>
                  <a:srgbClr val="334155"/>
                </a:solidFill>
                <a:latin typeface="PingFang SC"/>
                <a:ea typeface="PingFang SC"/>
              </a:rPr>
              <a:t>基于 DolphinScheduler 二开建设轻量数据中台 DataFlow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713232" y="5870448"/>
            <a:ext cx="8046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/>
                <a:ea typeface="PingFang SC"/>
              </a:rPr>
              <a:t>汇报日期：2026-06-10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一、建设定位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1289304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1234440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以 DolphinScheduler 为底座，形成轻量数据中台 DataFlow。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1673352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目标不是单点原型，而是可演示、可交付、可部署的业务系统。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2167128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2112264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围绕公安业务数据链路，覆盖接入、处理、服务、回传、报告和安全运维。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260604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2551176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采用 ECC 工作方式推进：小步实现、接口清楚、验证闭环。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6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二、总体业务链路</a:t>
            </a:r>
          </a:p>
        </p:txBody>
      </p:sp>
      <p:sp>
        <p:nvSpPr>
          <p:cNvPr id="2" name="Shape"/>
          <p:cNvSpPr/>
          <p:nvPr/>
        </p:nvSpPr>
        <p:spPr>
          <a:xfrm>
            <a:off x="594360" y="2240280"/>
            <a:ext cx="1207008" cy="713232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CBD5E1"/>
            </a:solidFill>
          </a:ln>
        </p:spPr>
      </p:sp>
      <p:sp>
        <p:nvSpPr>
          <p:cNvPr id="1" name="Text Box"/>
          <p:cNvSpPr txBox="1"/>
          <p:nvPr/>
        </p:nvSpPr>
        <p:spPr>
          <a:xfrm>
            <a:off x="594360" y="2450592"/>
            <a:ext cx="12070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4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数据源</a:t>
            </a:r>
          </a:p>
        </p:txBody>
      </p:sp>
      <p:cxnSp>
        <p:nvCxnSpPr>
          <p:cNvPr id="3" name="Connector"/>
          <p:cNvCxnSpPr/>
          <p:nvPr/>
        </p:nvCxnSpPr>
        <p:spPr>
          <a:xfrm>
            <a:off x="1837944" y="2596896"/>
            <a:ext cx="265176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2" name="Shape"/>
          <p:cNvSpPr/>
          <p:nvPr/>
        </p:nvSpPr>
        <p:spPr>
          <a:xfrm>
            <a:off x="2148840" y="2240280"/>
            <a:ext cx="1207008" cy="713232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</p:sp>
      <p:sp>
        <p:nvSpPr>
          <p:cNvPr id="1" name="Text Box"/>
          <p:cNvSpPr txBox="1"/>
          <p:nvPr/>
        </p:nvSpPr>
        <p:spPr>
          <a:xfrm>
            <a:off x="2148840" y="2450592"/>
            <a:ext cx="12070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4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同步任务</a:t>
            </a:r>
          </a:p>
        </p:txBody>
      </p:sp>
      <p:cxnSp>
        <p:nvCxnSpPr>
          <p:cNvPr id="3" name="Connector"/>
          <p:cNvCxnSpPr/>
          <p:nvPr/>
        </p:nvCxnSpPr>
        <p:spPr>
          <a:xfrm>
            <a:off x="3392424" y="2596896"/>
            <a:ext cx="265176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2" name="Shape"/>
          <p:cNvSpPr/>
          <p:nvPr/>
        </p:nvSpPr>
        <p:spPr>
          <a:xfrm>
            <a:off x="3703320" y="2240280"/>
            <a:ext cx="1207008" cy="713232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</p:sp>
      <p:sp>
        <p:nvSpPr>
          <p:cNvPr id="1" name="Text Box"/>
          <p:cNvSpPr txBox="1"/>
          <p:nvPr/>
        </p:nvSpPr>
        <p:spPr>
          <a:xfrm>
            <a:off x="3703320" y="2450592"/>
            <a:ext cx="12070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4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数据预览</a:t>
            </a:r>
          </a:p>
        </p:txBody>
      </p:sp>
      <p:cxnSp>
        <p:nvCxnSpPr>
          <p:cNvPr id="3" name="Connector"/>
          <p:cNvCxnSpPr/>
          <p:nvPr/>
        </p:nvCxnSpPr>
        <p:spPr>
          <a:xfrm>
            <a:off x="4946904" y="2596896"/>
            <a:ext cx="265176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2" name="Shape"/>
          <p:cNvSpPr/>
          <p:nvPr/>
        </p:nvSpPr>
        <p:spPr>
          <a:xfrm>
            <a:off x="5257800" y="2240280"/>
            <a:ext cx="1207008" cy="713232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</p:sp>
      <p:sp>
        <p:nvSpPr>
          <p:cNvPr id="1" name="Text Box"/>
          <p:cNvSpPr txBox="1"/>
          <p:nvPr/>
        </p:nvSpPr>
        <p:spPr>
          <a:xfrm>
            <a:off x="5257800" y="2450592"/>
            <a:ext cx="12070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4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主题库/治理</a:t>
            </a:r>
          </a:p>
        </p:txBody>
      </p:sp>
      <p:cxnSp>
        <p:nvCxnSpPr>
          <p:cNvPr id="3" name="Connector"/>
          <p:cNvCxnSpPr/>
          <p:nvPr/>
        </p:nvCxnSpPr>
        <p:spPr>
          <a:xfrm>
            <a:off x="6501384" y="2596896"/>
            <a:ext cx="265176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2" name="Shape"/>
          <p:cNvSpPr/>
          <p:nvPr/>
        </p:nvSpPr>
        <p:spPr>
          <a:xfrm>
            <a:off x="6812280" y="2240280"/>
            <a:ext cx="1207008" cy="713232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CBD5E1"/>
            </a:solidFill>
          </a:ln>
        </p:spPr>
      </p:sp>
      <p:sp>
        <p:nvSpPr>
          <p:cNvPr id="1" name="Text Box"/>
          <p:cNvSpPr txBox="1"/>
          <p:nvPr/>
        </p:nvSpPr>
        <p:spPr>
          <a:xfrm>
            <a:off x="6812280" y="2450592"/>
            <a:ext cx="12070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4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Magic API</a:t>
            </a:r>
          </a:p>
        </p:txBody>
      </p:sp>
      <p:cxnSp>
        <p:nvCxnSpPr>
          <p:cNvPr id="3" name="Connector"/>
          <p:cNvCxnSpPr/>
          <p:nvPr/>
        </p:nvCxnSpPr>
        <p:spPr>
          <a:xfrm>
            <a:off x="8055864" y="2596896"/>
            <a:ext cx="265175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2" name="Shape"/>
          <p:cNvSpPr/>
          <p:nvPr/>
        </p:nvSpPr>
        <p:spPr>
          <a:xfrm>
            <a:off x="8366760" y="2240280"/>
            <a:ext cx="1207008" cy="713232"/>
          </a:xfrm>
          <a:prstGeom prst="roundRect">
            <a:avLst/>
          </a:prstGeom>
          <a:solidFill>
            <a:srgbClr val="FFE4E6"/>
          </a:solidFill>
          <a:ln w="9525">
            <a:solidFill>
              <a:srgbClr val="CBD5E1"/>
            </a:solidFill>
          </a:ln>
        </p:spPr>
      </p:sp>
      <p:sp>
        <p:nvSpPr>
          <p:cNvPr id="1" name="Text Box"/>
          <p:cNvSpPr txBox="1"/>
          <p:nvPr/>
        </p:nvSpPr>
        <p:spPr>
          <a:xfrm>
            <a:off x="8366760" y="2450592"/>
            <a:ext cx="12070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4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回传/下发</a:t>
            </a:r>
          </a:p>
        </p:txBody>
      </p:sp>
      <p:cxnSp>
        <p:nvCxnSpPr>
          <p:cNvPr id="3" name="Connector"/>
          <p:cNvCxnSpPr/>
          <p:nvPr/>
        </p:nvCxnSpPr>
        <p:spPr>
          <a:xfrm>
            <a:off x="9610344" y="2596896"/>
            <a:ext cx="265175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2" name="Shape"/>
          <p:cNvSpPr/>
          <p:nvPr/>
        </p:nvSpPr>
        <p:spPr>
          <a:xfrm>
            <a:off x="9921240" y="2240280"/>
            <a:ext cx="1207008" cy="713232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</p:sp>
      <p:sp>
        <p:nvSpPr>
          <p:cNvPr id="1" name="Text Box"/>
          <p:cNvSpPr txBox="1"/>
          <p:nvPr/>
        </p:nvSpPr>
        <p:spPr>
          <a:xfrm>
            <a:off x="9921240" y="2450592"/>
            <a:ext cx="12070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4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白皮书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3785615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3730752"/>
            <a:ext cx="9509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数据从业务库/外部库进入平台，经同步任务调度进入中台数据区。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4224528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4169664"/>
            <a:ext cx="9509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平台提供数据预览、主题库、治理和血缘，支撑数据可理解、可追溯。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4663440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4608576"/>
            <a:ext cx="9509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Magic API 作为业务接口开发层，向首页指标、回传、下发等模块供数。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510235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5047488"/>
            <a:ext cx="9509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白皮书把可配置报表嵌入可编辑文档，形成面向汇报和交付的输出物。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6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三、当前模块编排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325880"/>
            <a:ext cx="4892040" cy="150876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</p:sp>
      <p:sp>
        <p:nvSpPr>
          <p:cNvPr id="1" name="Text Box"/>
          <p:cNvSpPr txBox="1"/>
          <p:nvPr/>
        </p:nvSpPr>
        <p:spPr>
          <a:xfrm>
            <a:off x="987552" y="1581912"/>
            <a:ext cx="4389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8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数据接入与调度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987552" y="1984248"/>
            <a:ext cx="4251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334155"/>
                </a:solidFill>
                <a:latin typeface="PingFang SC"/>
                <a:ea typeface="PingFang SC"/>
              </a:rPr>
              <a:t>同步任务复用 DolphinScheduler 工作流、定时、上线下线和执行日志。</a:t>
            </a:r>
          </a:p>
        </p:txBody>
      </p:sp>
      <p:sp>
        <p:nvSpPr>
          <p:cNvPr id="2" name="Shape"/>
          <p:cNvSpPr/>
          <p:nvPr/>
        </p:nvSpPr>
        <p:spPr>
          <a:xfrm>
            <a:off x="6245352" y="1325880"/>
            <a:ext cx="4892040" cy="150876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</p:sp>
      <p:sp>
        <p:nvSpPr>
          <p:cNvPr id="1" name="Text Box"/>
          <p:cNvSpPr txBox="1"/>
          <p:nvPr/>
        </p:nvSpPr>
        <p:spPr>
          <a:xfrm>
            <a:off x="6519672" y="1581912"/>
            <a:ext cx="4389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8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数据理解与治理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6519672" y="1984248"/>
            <a:ext cx="4251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334155"/>
                </a:solidFill>
                <a:latin typeface="PingFang SC"/>
                <a:ea typeface="PingFang SC"/>
              </a:rPr>
              <a:t>数据预览、主题库、治理、SQL 血缘形成可解释的数据使用链路。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3474720"/>
            <a:ext cx="4892040" cy="1508760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CBD5E1"/>
            </a:solidFill>
          </a:ln>
        </p:spPr>
      </p:sp>
      <p:sp>
        <p:nvSpPr>
          <p:cNvPr id="1" name="Text Box"/>
          <p:cNvSpPr txBox="1"/>
          <p:nvPr/>
        </p:nvSpPr>
        <p:spPr>
          <a:xfrm>
            <a:off x="987552" y="3730752"/>
            <a:ext cx="4389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8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业务服务输出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987552" y="4133087"/>
            <a:ext cx="4251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334155"/>
                </a:solidFill>
                <a:latin typeface="PingFang SC"/>
                <a:ea typeface="PingFang SC"/>
              </a:rPr>
              <a:t>Magic API 承载接口开发，支撑首页、回传、下发等业务查询。</a:t>
            </a:r>
          </a:p>
        </p:txBody>
      </p:sp>
      <p:sp>
        <p:nvSpPr>
          <p:cNvPr id="2" name="Shape"/>
          <p:cNvSpPr/>
          <p:nvPr/>
        </p:nvSpPr>
        <p:spPr>
          <a:xfrm>
            <a:off x="6245352" y="3474720"/>
            <a:ext cx="4892040" cy="150876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</p:sp>
      <p:sp>
        <p:nvSpPr>
          <p:cNvPr id="1" name="Text Box"/>
          <p:cNvSpPr txBox="1"/>
          <p:nvPr/>
        </p:nvSpPr>
        <p:spPr>
          <a:xfrm>
            <a:off x="6519672" y="3730752"/>
            <a:ext cx="4389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8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报告与交付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6519672" y="4133087"/>
            <a:ext cx="4251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334155"/>
                </a:solidFill>
                <a:latin typeface="PingFang SC"/>
                <a:ea typeface="PingFang SC"/>
              </a:rPr>
              <a:t>白皮书模块支持可编辑报告、报表数据集、图表/表格嵌入。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首页：数据中台驾驶舱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/>
                <a:ea typeface="PingFang SC"/>
              </a:rPr>
              <a:t>统一呈现平台运行态势和关键业务指标。</a:t>
            </a:r>
          </a:p>
        </p:txBody>
      </p:sp>
      <p:sp>
        <p:nvSpPr>
          <p:cNvPr id="2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1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200" dirty="0" smtClean="0">
                <a:solidFill>
                  <a:srgbClr val="64748B"/>
                </a:solidFill>
                <a:latin typeface="PingFang SC"/>
                <a:ea typeface="PingFang SC"/>
              </a:rPr>
              <a:t>首页模块实际界面截图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展示同步任务、主题库、治理、回传下发、接口服务等核心指标。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定位为领导和运维人员的第一入口，用于快速判断平台运行状态。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后续指标应优先通过 Magic API 或明确后端接口获取，避免静态假数据。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同步任务：数据接入与调度执行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/>
                <a:ea typeface="PingFang SC"/>
              </a:rPr>
              <a:t>复用 DolphinScheduler 工作流能力，承载 DataFlow 同步业务。</a:t>
            </a:r>
          </a:p>
        </p:txBody>
      </p:sp>
      <p:sp>
        <p:nvSpPr>
          <p:cNvPr id="2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1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200" dirty="0" smtClean="0">
                <a:solidFill>
                  <a:srgbClr val="64748B"/>
                </a:solidFill>
                <a:latin typeface="PingFang SC"/>
                <a:ea typeface="PingFang SC"/>
              </a:rPr>
              <a:t>同步任务模块实际界面截图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支持同步任务列表、新建向导、字段映射、过滤条件、DDL 与运行配置。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右侧操作风格与项目工作流定义保持一致，可复用定时、上线下线、执行记录。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SeaTunnel 定位为同步执行组件，DolphinScheduler 负责流程编排和调度。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数据预览：快速看表、看字段、看样例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/>
                <a:ea typeface="PingFang SC"/>
              </a:rPr>
              <a:t>让维护人员在不写复杂 SQL 的情况下判断数据是否可用。</a:t>
            </a:r>
          </a:p>
        </p:txBody>
      </p:sp>
      <p:sp>
        <p:nvSpPr>
          <p:cNvPr id="2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1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200" dirty="0" smtClean="0">
                <a:solidFill>
                  <a:srgbClr val="64748B"/>
                </a:solidFill>
                <a:latin typeface="PingFang SC"/>
                <a:ea typeface="PingFang SC"/>
              </a:rPr>
              <a:t>数据预览模块实际界面截图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支持数据源、库表、字段和条件筛选，提供数据预览与字段操作体验。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面向 MySQL 与 Oracle 等数据源兼容，后续可接入 profile 指标。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是后续“数据探查 + 找数找字段”的基础交互参考。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主题库：面向业务的数据组织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/>
                <a:ea typeface="PingFang SC"/>
              </a:rPr>
              <a:t>把平台数据按公安业务主题组织起来，而不是只暴露技术表。</a:t>
            </a:r>
          </a:p>
        </p:txBody>
      </p:sp>
      <p:sp>
        <p:nvSpPr>
          <p:cNvPr id="2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1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200" dirty="0" smtClean="0">
                <a:solidFill>
                  <a:srgbClr val="64748B"/>
                </a:solidFill>
                <a:latin typeface="PingFang SC"/>
                <a:ea typeface="PingFang SC"/>
              </a:rPr>
              <a:t>主题库模块实际界面截图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围绕人员、案件、警情、线索等业务视角沉淀主题数据。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与首页指标、数据治理、Magic API 形成上下游关系。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后续重点是把主题数据来源、更新频率、口径说明做清楚。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数据治理 + SQL 血缘：质量与可追溯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/>
                <a:ea typeface="PingFang SC"/>
              </a:rPr>
              <a:t>补齐数据质量、问题发现和 SQL 表/字段级血缘能力。</a:t>
            </a:r>
          </a:p>
        </p:txBody>
      </p:sp>
      <p:sp>
        <p:nvSpPr>
          <p:cNvPr id="2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1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200" dirty="0" smtClean="0">
                <a:solidFill>
                  <a:srgbClr val="64748B"/>
                </a:solidFill>
                <a:latin typeface="PingFang SC"/>
                <a:ea typeface="PingFang SC"/>
              </a:rPr>
              <a:t>SQL 血缘解析实际界面截图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数据治理模块展示质量概览、问题项、同步链路和治理状态。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SQL 血缘解析支持在线输入 SQL，展示表级/字段级血缘图。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第一版以 JSqlParser + G6 跑通 MVP，复杂方言后续再逐步增强。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Magic API：业务接口开发层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/>
                <a:ea typeface="PingFang SC"/>
              </a:rPr>
              <a:t>作为 DataFlow 模块对外和对内供数的重要接口层。</a:t>
            </a:r>
          </a:p>
        </p:txBody>
      </p:sp>
      <p:sp>
        <p:nvSpPr>
          <p:cNvPr id="2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1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200" dirty="0" smtClean="0">
                <a:solidFill>
                  <a:srgbClr val="64748B"/>
                </a:solidFill>
                <a:latin typeface="PingFang SC"/>
                <a:ea typeface="PingFang SC"/>
              </a:rPr>
              <a:t>Magic API 模块实际界面截图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嵌入 Dolphin 二开项目内，用于开发、维护、演示业务查询接口。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计划承接首页指标、主题库查询、数据回传、数据下发等接口。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接口路径和分组需要沉淀文档，方便交付后维护和现场演示。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数据回传 / 数据下发：平台处理结果回到业务侧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/>
                <a:ea typeface="PingFang SC"/>
              </a:rPr>
              <a:t>表达数据中台处理结果向业务系统或目标库输出的链路。</a:t>
            </a:r>
          </a:p>
        </p:txBody>
      </p:sp>
      <p:sp>
        <p:nvSpPr>
          <p:cNvPr id="2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1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200" dirty="0" smtClean="0">
                <a:solidFill>
                  <a:srgbClr val="64748B"/>
                </a:solidFill>
                <a:latin typeface="PingFang SC"/>
                <a:ea typeface="PingFang SC"/>
              </a:rPr>
              <a:t>数据回传模块实际界面截图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数据回传支持嫌疑人编号、姓名、身份证号、案件编号、案件名称检索。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回传库 Tab 包括天地伟业中间库、市局 C3 回传库、警综库。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数据下发采用相同筛选口径，Tab 包括数据中台、三期平台。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2761488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2706624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具体查询内容对接 Magic API，保证展示内容可解释、可维护。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白皮书：可编辑报告与可配置报表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/>
                <a:ea typeface="PingFang SC"/>
              </a:rPr>
              <a:t>把平台数据、统计图表和文字说明沉淀为可汇报材料。</a:t>
            </a:r>
          </a:p>
        </p:txBody>
      </p:sp>
      <p:sp>
        <p:nvSpPr>
          <p:cNvPr id="2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1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200" dirty="0" smtClean="0">
                <a:solidFill>
                  <a:srgbClr val="64748B"/>
                </a:solidFill>
                <a:latin typeface="PingFang SC"/>
                <a:ea typeface="PingFang SC"/>
              </a:rPr>
              <a:t>白皮书模块实际界面截图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支持模板编辑器、报表数据集、预览导出三个核心工作区。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报表数据集可配置字段、条件、维度、指标和展现形式。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图表、饼图、表格等可作为展现形式嵌入文档指定位置。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2761488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2706624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后续可引入成熟富文本组件，提升 Word 类编辑体验。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资源、监控、安全：交付运行底座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/>
                <a:ea typeface="PingFang SC"/>
              </a:rPr>
              <a:t>保留 DolphinScheduler 运维能力，并按 DataFlow 导航重新编排。</a:t>
            </a:r>
          </a:p>
        </p:txBody>
      </p:sp>
      <p:sp>
        <p:nvSpPr>
          <p:cNvPr id="2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1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zh-CN" sz="1200" dirty="0" smtClean="0">
                <a:solidFill>
                  <a:srgbClr val="64748B"/>
                </a:solidFill>
                <a:latin typeface="PingFang SC"/>
                <a:ea typeface="PingFang SC"/>
              </a:rPr>
              <a:t>监控模块实际界面截图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资源模块归入监控体系，白皮书进入业务模块位置。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监控覆盖实例统计、Master、Worker、Alert、DB、审计日志等。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安全中心覆盖租户、用户、令牌、环境、集群、告警等管理。</a:t>
            </a:r>
          </a:p>
        </p:txBody>
      </p:sp>
      <p:sp>
        <p:nvSpPr>
          <p:cNvPr id="2" name="Shape"/>
          <p:cNvSpPr/>
          <p:nvPr/>
        </p:nvSpPr>
        <p:spPr>
          <a:xfrm>
            <a:off x="713232" y="2761488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969264" y="2706624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权限边界需区分 admin、维护人员、只读用户，不能只做前端隐藏。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安装与验证结果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/>
                <a:ea typeface="PingFang SC"/>
              </a:rPr>
              <a:t>已基于二开项目完成打包、安装和浏览器冒烟验证。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1289304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1234440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打包产物：apache-dolphinscheduler-3.4.1-bin.tar.gz。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1673352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安装验证使用 MySQL 数据库，不使用 H2。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2167128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2112264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服务健康检查：api、db、master、worker、alert 均为 UP。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260604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2551176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浏览器模拟点击 30 个模块，结果 30/30 PASS，控制台错误 0，失败响应 0。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dirty="0" smtClean="0">
                <a:solidFill>
                  <a:srgbClr val="0F172A"/>
                </a:solidFill>
                <a:latin typeface="PingFang SC"/>
                <a:ea typeface="PingFang SC"/>
                <a:b/>
              </a:rPr>
              <a:t>下一步工作计划</a:t>
            </a:r>
          </a:p>
        </p:txBody>
      </p:sp>
      <p:sp>
        <p:nvSpPr>
          <p:cNvPr id="1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/>
                <a:ea typeface="PingFang SC"/>
              </a:rPr>
              <a:t>围绕“可交付”继续补齐真实接口、权限和演示数据闭环。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1289304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1234440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补齐 Magic API 接口：优先首页指标、回传、下发、主题库查询。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1673352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完善数据探查：搜索表/字段、Profile 指标、样例值、脱敏预览。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2167128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2112264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深化白皮书：成熟富文本、报表数据集合法性校验、导出能力。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260604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2551176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强化权限与安全：SQL、数据源、导出、回传、接口调用做后端校验。</a:t>
            </a:r>
          </a:p>
        </p:txBody>
      </p:sp>
      <p:sp>
        <p:nvSpPr>
          <p:cNvPr id="2" name="Shape"/>
          <p:cNvSpPr/>
          <p:nvPr/>
        </p:nvSpPr>
        <p:spPr>
          <a:xfrm>
            <a:off x="914400" y="304495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" name="Text Box"/>
          <p:cNvSpPr txBox="1"/>
          <p:nvPr/>
        </p:nvSpPr>
        <p:spPr>
          <a:xfrm>
            <a:off x="1170432" y="2990088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/>
                <a:ea typeface="PingFang SC"/>
              </a:rPr>
              <a:t>继续保持打包安装和浏览器点击验证，形成交付前检查清单。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Flow">
  <a:themeElements>
    <a:clrScheme name="DataFlow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0891B2"/>
      </a:accent5>
      <a:accent6>
        <a:srgbClr val="E11D48"/>
      </a:accent6>
      <a:hlink>
        <a:srgbClr val="2563EB"/>
      </a:hlink>
      <a:folHlink>
        <a:srgbClr val="7C3AED"/>
      </a:folHlink>
    </a:clrScheme>
    <a:fontScheme name="DataFlow">
      <a:majorFont>
        <a:latin typeface="PingFang SC"/>
        <a:ea typeface="PingFang SC"/>
      </a:majorFont>
      <a:minorFont>
        <a:latin typeface="PingFang SC"/>
        <a:ea typeface="PingFang SC"/>
      </a:minorFont>
    </a:fontScheme>
    <a:fmtScheme name="DataFlow">
      <a:fillStyleLst/>
      <a:lnStyleLst/>
      <a:effectStyleLst/>
      <a:bgFillStyleLst/>
    </a:fmtScheme>
  </a:themeElements>
</a:theme>
</file>